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0" autoAdjust="0"/>
    <p:restoredTop sz="94911" autoAdjust="0"/>
  </p:normalViewPr>
  <p:slideViewPr>
    <p:cSldViewPr snapToGrid="0" snapToObjects="1">
      <p:cViewPr varScale="1">
        <p:scale>
          <a:sx n="107" d="100"/>
          <a:sy n="107" d="100"/>
        </p:scale>
        <p:origin x="52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9912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4E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77724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开发技术 · 课程小组作业 · 项目三（电影方向）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194560"/>
            <a:ext cx="111831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豆瓣电影数据洞察看板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02920" y="3246120"/>
            <a:ext cx="11183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DOUBAN MOVIE DATA INSIGHTS DASHBOARD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79476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2050 部真实豆瓣电影 · 全栈数据可视化看板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6064" y="466344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FFF1EA"/>
          </a:solidFill>
          <a:ln/>
        </p:spPr>
      </p:sp>
      <p:sp>
        <p:nvSpPr>
          <p:cNvPr id="9" name="Text 7"/>
          <p:cNvSpPr/>
          <p:nvPr/>
        </p:nvSpPr>
        <p:spPr>
          <a:xfrm>
            <a:off x="966064" y="46634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 HTML/CSS/JS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50896" y="466344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11" name="Text 9"/>
          <p:cNvSpPr/>
          <p:nvPr/>
        </p:nvSpPr>
        <p:spPr>
          <a:xfrm>
            <a:off x="3050896" y="46634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 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35728" y="466344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/>
        </p:spPr>
      </p:sp>
      <p:sp>
        <p:nvSpPr>
          <p:cNvPr id="13" name="Text 11"/>
          <p:cNvSpPr/>
          <p:nvPr/>
        </p:nvSpPr>
        <p:spPr>
          <a:xfrm>
            <a:off x="5135728" y="46634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20560" y="466344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/>
        </p:spPr>
      </p:sp>
      <p:sp>
        <p:nvSpPr>
          <p:cNvPr id="15" name="Text 13"/>
          <p:cNvSpPr/>
          <p:nvPr/>
        </p:nvSpPr>
        <p:spPr>
          <a:xfrm>
            <a:off x="7220560" y="46634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305392" y="466344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9305392" y="46634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Nginx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5760720"/>
            <a:ext cx="11183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小组   |   </a:t>
            </a:r>
            <a:r>
              <a:rPr lang="zh-CN" altLang="en-US" sz="13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张同学</a:t>
            </a:r>
            <a:r>
              <a:rPr lang="en-US" sz="13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（组长）· </a:t>
            </a:r>
            <a:r>
              <a:rPr lang="zh-CN" altLang="en-US" sz="13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钟同学</a:t>
            </a:r>
            <a:r>
              <a:rPr lang="en-US" sz="13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r>
              <a:rPr lang="zh-CN" altLang="en-US" sz="13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曹同学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6126480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 年 10 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40233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1463040" cy="41148"/>
          </a:xfrm>
          <a:prstGeom prst="rect">
            <a:avLst/>
          </a:prstGeom>
          <a:solidFill>
            <a:srgbClr val="FF4E00"/>
          </a:solidFill>
          <a:ln/>
        </p:spPr>
      </p:sp>
      <p:sp>
        <p:nvSpPr>
          <p:cNvPr id="6" name="Shape 4"/>
          <p:cNvSpPr/>
          <p:nvPr/>
        </p:nvSpPr>
        <p:spPr>
          <a:xfrm>
            <a:off x="2057400" y="896112"/>
            <a:ext cx="9631375" cy="4114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Text 5"/>
          <p:cNvSpPr/>
          <p:nvPr/>
        </p:nvSpPr>
        <p:spPr>
          <a:xfrm>
            <a:off x="10957255" y="64739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8008" y="123444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6608" y="14173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4E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615288" y="1463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项目背景与简介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15288" y="18928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选题背景 · 课程定位 · 项目概览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8008" y="1234440"/>
            <a:ext cx="54864" cy="1554480"/>
          </a:xfrm>
          <a:prstGeom prst="rect">
            <a:avLst/>
          </a:prstGeom>
          <a:solidFill>
            <a:srgbClr val="FF4E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78728" y="123444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07328" y="14173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4E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376008" y="1463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技术栈与系统架构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76008" y="18928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 · 整体架构 · 部署方案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78728" y="1234440"/>
            <a:ext cx="54864" cy="1554480"/>
          </a:xfrm>
          <a:prstGeom prst="rect">
            <a:avLst/>
          </a:prstGeom>
          <a:solidFill>
            <a:srgbClr val="FF4E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18008" y="310896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6608" y="32918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4E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615288" y="3337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数据与后端设计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15288" y="37673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真实数据源 · 数据库 · 接口设计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8008" y="3108960"/>
            <a:ext cx="54864" cy="1554480"/>
          </a:xfrm>
          <a:prstGeom prst="rect">
            <a:avLst/>
          </a:prstGeom>
          <a:solidFill>
            <a:srgbClr val="FF4E00"/>
          </a:solidFill>
          <a:ln/>
        </p:spPr>
      </p:sp>
      <p:sp>
        <p:nvSpPr>
          <p:cNvPr id="23" name="Shape 21"/>
          <p:cNvSpPr/>
          <p:nvPr/>
        </p:nvSpPr>
        <p:spPr>
          <a:xfrm>
            <a:off x="6278728" y="310896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07328" y="32918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4E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376008" y="3337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前端功能展示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76008" y="37673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大页面 · 8 张图表 · 交互亮点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78728" y="3108960"/>
            <a:ext cx="54864" cy="1554480"/>
          </a:xfrm>
          <a:prstGeom prst="rect">
            <a:avLst/>
          </a:prstGeom>
          <a:solidFill>
            <a:srgbClr val="FF4E00"/>
          </a:solidFill>
          <a:ln/>
        </p:spPr>
      </p:sp>
      <p:sp>
        <p:nvSpPr>
          <p:cNvPr id="28" name="Shape 26"/>
          <p:cNvSpPr/>
          <p:nvPr/>
        </p:nvSpPr>
        <p:spPr>
          <a:xfrm>
            <a:off x="518008" y="498348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6608" y="51663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4E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1615288" y="5212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团队协作与工程质量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615288" y="56418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协同 · Git 流程 · AI 使用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18008" y="4983480"/>
            <a:ext cx="54864" cy="1554480"/>
          </a:xfrm>
          <a:prstGeom prst="rect">
            <a:avLst/>
          </a:prstGeom>
          <a:solidFill>
            <a:srgbClr val="FF4E00"/>
          </a:solidFill>
          <a:ln/>
        </p:spPr>
      </p:sp>
      <p:sp>
        <p:nvSpPr>
          <p:cNvPr id="33" name="Shape 31"/>
          <p:cNvSpPr/>
          <p:nvPr/>
        </p:nvSpPr>
        <p:spPr>
          <a:xfrm>
            <a:off x="6278728" y="498348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07328" y="51663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4E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7376008" y="5212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课程符合度与总结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376008" y="56418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F1-F9 / A1-A5 · 项目亮点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78728" y="4983480"/>
            <a:ext cx="54864" cy="1554480"/>
          </a:xfrm>
          <a:prstGeom prst="rect">
            <a:avLst/>
          </a:prstGeom>
          <a:solidFill>
            <a:srgbClr val="FF4E0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项目背景与选题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40233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1463040" cy="41148"/>
          </a:xfrm>
          <a:prstGeom prst="rect">
            <a:avLst/>
          </a:prstGeom>
          <a:solidFill>
            <a:srgbClr val="FF4E00"/>
          </a:solidFill>
          <a:ln/>
        </p:spPr>
      </p:sp>
      <p:sp>
        <p:nvSpPr>
          <p:cNvPr id="6" name="Shape 4"/>
          <p:cNvSpPr/>
          <p:nvPr/>
        </p:nvSpPr>
        <p:spPr>
          <a:xfrm>
            <a:off x="2057400" y="896112"/>
            <a:ext cx="9631375" cy="4114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Text 5"/>
          <p:cNvSpPr/>
          <p:nvPr/>
        </p:nvSpPr>
        <p:spPr>
          <a:xfrm>
            <a:off x="10957255" y="64739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143000"/>
            <a:ext cx="539496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325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选题背景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1737360"/>
            <a:ext cx="457200" cy="36576"/>
          </a:xfrm>
          <a:prstGeom prst="rect">
            <a:avLst/>
          </a:prstGeom>
          <a:solidFill>
            <a:srgbClr val="FF4E0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92024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3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课程《Web 开发技术》小组作业，对应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24028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3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项目三「图书/电影数据分析看板」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56032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3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选择电影方向，以豆瓣电影为数据源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88036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3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帮助用户从多维度发现优质影片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20040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3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严格遵循课程核心考核点：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56616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数据必须入库 MySQL，由后端查询返回，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05840" y="385876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前端不可直接读取静态文件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425196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3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技术范围：原生前端 + Spring Boot 后端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457200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3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不引入 Vue / React / axios / 构建工具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89204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3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完整覆盖前端 F1–F9 与后端 A1–A5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5486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GitHub: iridescent2333/douban-movies-data-analysis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1143000"/>
            <a:ext cx="5468112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1325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537960" y="1737360"/>
            <a:ext cx="4572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192024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全栈数据可视化看板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37960" y="233172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「总览 → 榜单 → 洞察 → 明细」完整链路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37960" y="2834640"/>
            <a:ext cx="4892040" cy="713232"/>
          </a:xfrm>
          <a:prstGeom prst="roundRect">
            <a:avLst>
              <a:gd name="adj" fmla="val 1025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2834640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🎬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086600" y="290779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86600" y="318211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2050 部豆瓣电影，Kaggle CC0 公有领域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537960" y="3675888"/>
            <a:ext cx="4892040" cy="713232"/>
          </a:xfrm>
          <a:prstGeom prst="roundRect">
            <a:avLst>
              <a:gd name="adj" fmla="val 1025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3675888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086600" y="37490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多维洞察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086600" y="402336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 / 热度 / 类型 / 地区 / 年代 / 导演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537960" y="4517136"/>
            <a:ext cx="4892040" cy="713232"/>
          </a:xfrm>
          <a:prstGeom prst="roundRect">
            <a:avLst>
              <a:gd name="adj" fmla="val 1025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9400" y="4517136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🔁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086600" y="459028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交互探索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086600" y="486460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筛选联动 + 图表点击反选筛选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537960" y="5358384"/>
            <a:ext cx="4892040" cy="713232"/>
          </a:xfrm>
          <a:prstGeom prst="roundRect">
            <a:avLst>
              <a:gd name="adj" fmla="val 1025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9400" y="5358384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🌗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7086600" y="543153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体验细节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086600" y="5705856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明暗主题 / 防抖 / 海报代理 / 双视图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项目简介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40233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1463040" cy="41148"/>
          </a:xfrm>
          <a:prstGeom prst="rect">
            <a:avLst/>
          </a:prstGeom>
          <a:solidFill>
            <a:srgbClr val="FF4E00"/>
          </a:solidFill>
          <a:ln/>
        </p:spPr>
      </p:sp>
      <p:sp>
        <p:nvSpPr>
          <p:cNvPr id="6" name="Shape 4"/>
          <p:cNvSpPr/>
          <p:nvPr/>
        </p:nvSpPr>
        <p:spPr>
          <a:xfrm>
            <a:off x="2057400" y="896112"/>
            <a:ext cx="9631375" cy="4114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Text 5"/>
          <p:cNvSpPr/>
          <p:nvPr/>
        </p:nvSpPr>
        <p:spPr>
          <a:xfrm>
            <a:off x="10957255" y="64739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143000"/>
            <a:ext cx="111831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280160"/>
            <a:ext cx="10634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2050 部真实豆瓣电影的全栈数据可视化看板。后端 Spring Boot + MySQL 提供数据查询，前端原生 HTML/CSS/JS + ECharts 5 渲染，从评分、热度、类型、地区、年代等多维度洞察优质影片。采用「左侧多级菜单 + 右侧内容按页切换」布局，共 6 大页面、8 张 ECharts 图表，支持全局筛选联动与图表点击反选。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54584" y="2468880"/>
            <a:ext cx="175564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4584" y="2578608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4E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2050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7736" y="3182112"/>
            <a:ext cx="1609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真实电影数据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19960" y="2468880"/>
            <a:ext cx="175564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19960" y="2578608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493112" y="3182112"/>
            <a:ext cx="1609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 图表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85336" y="2468880"/>
            <a:ext cx="175564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85336" y="2578608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358488" y="3182112"/>
            <a:ext cx="1609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功能页面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50712" y="2468880"/>
            <a:ext cx="175564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50712" y="2578608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223864" y="3182112"/>
            <a:ext cx="1609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核心类型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16088" y="2468880"/>
            <a:ext cx="175564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16088" y="2578608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089240" y="3182112"/>
            <a:ext cx="1609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核心地区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881464" y="2468880"/>
            <a:ext cx="175564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81464" y="2578608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1931-2026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954616" y="3182112"/>
            <a:ext cx="1609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年代跨度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388620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3886200"/>
            <a:ext cx="3611880" cy="54864"/>
          </a:xfrm>
          <a:prstGeom prst="rect">
            <a:avLst/>
          </a:prstGeom>
          <a:solidFill>
            <a:srgbClr val="FF4E00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06908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📦 数据源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1520" y="4526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Kaggle 公开数据集（CC0），Python 清洗入库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" y="52120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访问: http://localhost:8083/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233672" y="388620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33672" y="3886200"/>
            <a:ext cx="36118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4462272" y="406908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🚀 部署方式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462272" y="4526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Nginx 8083 托管前端 + /api 代理到 8081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462272" y="52120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访问: http://localhost:8083/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964424" y="388620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964424" y="3886200"/>
            <a:ext cx="36118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8193024" y="406908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接口文档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193024" y="4526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SpringDoc Swagger UI 自动生成，在线调试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193024" y="52120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访问: http://localhost:8083/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40233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1463040" cy="41148"/>
          </a:xfrm>
          <a:prstGeom prst="rect">
            <a:avLst/>
          </a:prstGeom>
          <a:solidFill>
            <a:srgbClr val="FF4E00"/>
          </a:solidFill>
          <a:ln/>
        </p:spPr>
      </p:sp>
      <p:sp>
        <p:nvSpPr>
          <p:cNvPr id="6" name="Shape 4"/>
          <p:cNvSpPr/>
          <p:nvPr/>
        </p:nvSpPr>
        <p:spPr>
          <a:xfrm>
            <a:off x="2057400" y="896112"/>
            <a:ext cx="9631375" cy="4114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Text 5"/>
          <p:cNvSpPr/>
          <p:nvPr/>
        </p:nvSpPr>
        <p:spPr>
          <a:xfrm>
            <a:off x="10957255" y="64739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188720"/>
            <a:ext cx="1118311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18872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1E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18872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788920" y="1572768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r>
              <a:rPr lang="en-US" sz="12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 HTML + CSS + JavaScript (ES6+)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0" y="1572768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r>
              <a:rPr lang="en-US" sz="12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Apache ECharts 5（本地化发行）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732520" y="1572768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r>
              <a:rPr lang="en-US" sz="12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 fetch（统一封装：超时/防抖/缓存）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487168"/>
            <a:ext cx="1118311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487168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EFF6FF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487168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后端层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788920" y="2871216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r>
              <a:rPr lang="en-US" sz="12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3.2.5 + JDK 17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60720" y="2871216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r>
              <a:rPr lang="en-US" sz="12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Data JPA（Hibernate）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32520" y="2871216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r>
              <a:rPr lang="en-US" sz="12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Controller / Service / Repository 分层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785616"/>
            <a:ext cx="1118311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785616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ECFDF5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785616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2788920" y="4169664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r>
              <a:rPr lang="en-US" sz="12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8.0（2050 条真实数据）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60720" y="4169664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r>
              <a:rPr lang="en-US" sz="12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OpenCSV + DataInitializer 自动入库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32520" y="4169664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r>
              <a:rPr lang="en-US" sz="12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张表：movies / genres / movie_genres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5084064"/>
            <a:ext cx="1118311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502920" y="5084064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5F3FF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5084064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2788920" y="5468112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r>
              <a:rPr lang="en-US" sz="12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Nginx 1.24+（前端 8083 + 反向代理）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760720" y="5468112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r>
              <a:rPr lang="en-US" sz="12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SpringDoc OpenAPI（Swagger UI）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732520" y="5468112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r>
              <a:rPr lang="en-US" sz="12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+ GitHub 协同开发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系统架构图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40233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1463040" cy="41148"/>
          </a:xfrm>
          <a:prstGeom prst="rect">
            <a:avLst/>
          </a:prstGeom>
          <a:solidFill>
            <a:srgbClr val="FF4E00"/>
          </a:solidFill>
          <a:ln/>
        </p:spPr>
      </p:sp>
      <p:sp>
        <p:nvSpPr>
          <p:cNvPr id="6" name="Shape 4"/>
          <p:cNvSpPr/>
          <p:nvPr/>
        </p:nvSpPr>
        <p:spPr>
          <a:xfrm>
            <a:off x="2057400" y="896112"/>
            <a:ext cx="9631375" cy="4114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Text 5"/>
          <p:cNvSpPr/>
          <p:nvPr/>
        </p:nvSpPr>
        <p:spPr>
          <a:xfrm>
            <a:off x="10957255" y="64739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FFF1EA"/>
          </a:solidFill>
          <a:ln w="12700">
            <a:solidFill>
              <a:srgbClr val="FF4E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45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02996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Chrome / Edge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46304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645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Nginx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91840" y="202996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 8083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前端托管 + /api 反向代理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0" y="146304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645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202996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 8081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 API + 业务逻辑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601200" y="146304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0" y="1645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8.0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92640" y="202996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 3306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2050 条真实数据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971800" y="18288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172200" y="18288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372600" y="18288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48640" y="292608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0175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前端静态资源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33375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frontend/dist 目录直接托管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0" y="292608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0175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同源避跨域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37560" y="33375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/api/ 代理到后端 8081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0" y="292608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30175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统一响应 Result&lt;T&gt;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37960" y="33375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{code:0, message:'ok', data}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601200" y="292608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38360" y="30175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自动入库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738360" y="33375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启动检测空表自动导入 CSV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2920" y="4206240"/>
            <a:ext cx="1118311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434340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请求链路与关键设计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77240" y="4736592"/>
            <a:ext cx="457200" cy="36576"/>
          </a:xfrm>
          <a:prstGeom prst="rect">
            <a:avLst/>
          </a:prstGeom>
          <a:solidFill>
            <a:srgbClr val="FF4E00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489204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3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用户访问 http://localhost:8083/ → Nginx 返回 index.html + 静态资源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77240" y="521208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3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fetch('/api/works') → Nginx 反向代理 → Spring Boot Controller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77240" y="553212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3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Controller → Service → Repository(JPA) → MySQL 返回 JSON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77240" y="585216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3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统一返回 Result&lt;T&gt;：code=0 成功，前端拦截逻辑统一处理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446520" y="489204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3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CORS：生产走 Nginx 同源，不产生跨域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446520" y="521208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3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后端保留 CorsConfig，方便直连 8081 调试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446520" y="553212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3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海报代理：后端携带 Referer 拉取豆瓣 CDN 图片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446520" y="585216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3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 本地化：vendor/echarts.min.js 断网可用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数据层设计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40233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1463040" cy="41148"/>
          </a:xfrm>
          <a:prstGeom prst="rect">
            <a:avLst/>
          </a:prstGeom>
          <a:solidFill>
            <a:srgbClr val="FF4E00"/>
          </a:solidFill>
          <a:ln/>
        </p:spPr>
      </p:sp>
      <p:sp>
        <p:nvSpPr>
          <p:cNvPr id="6" name="Shape 4"/>
          <p:cNvSpPr/>
          <p:nvPr/>
        </p:nvSpPr>
        <p:spPr>
          <a:xfrm>
            <a:off x="2057400" y="896112"/>
            <a:ext cx="9631375" cy="4114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Text 5"/>
          <p:cNvSpPr/>
          <p:nvPr/>
        </p:nvSpPr>
        <p:spPr>
          <a:xfrm>
            <a:off x="10957255" y="64739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143000"/>
            <a:ext cx="539496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325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数据来源与规模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1737360"/>
            <a:ext cx="457200" cy="36576"/>
          </a:xfrm>
          <a:prstGeom prst="rect">
            <a:avLst/>
          </a:prstGeom>
          <a:solidFill>
            <a:srgbClr val="FF4E0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920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数据源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96596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Kaggle 公开数据集（CC0 公有领域）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2487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原始数据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965960" y="24871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2065 条 → 清洗后 2050 条有效记录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7240" y="305409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时间跨度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965960" y="305409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1931 – 2026 年（95 年）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362102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真实性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965960" y="362102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评分、评价人数、简介、海报 URL 均与豆瓣一致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" y="4187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主键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965960" y="41879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豆瓣条目 subject id（可溯源）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7240" y="4754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类型维度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965960" y="4754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标准化为 12 个核心类型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77240" y="53218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地区维度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965960" y="532180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 10 个核心制片地区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63640" y="1143000"/>
            <a:ext cx="5468112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1325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数据清洗与质量保证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537960" y="1737360"/>
            <a:ext cx="4572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6"/>
          <p:cNvSpPr/>
          <p:nvPr/>
        </p:nvSpPr>
        <p:spPr>
          <a:xfrm>
            <a:off x="6537960" y="1920240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1920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40880" y="190195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去重与剔除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040880" y="215798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去除重复条目和无效记录（2065→2050）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537960" y="2761488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2761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040880" y="274320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主键提取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040880" y="299923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从豆瓣链接提取 subject id 作为主键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537960" y="3602736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6537960" y="36027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040880" y="358444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类型标准化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040880" y="38404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归并为 12 个核心类型（剧情/爱情/喜剧/恐怖/悬疑/战争/历史/纪录片/动作/动画/奇幻/科幻）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537960" y="4443984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1" name="Text 39"/>
          <p:cNvSpPr/>
          <p:nvPr/>
        </p:nvSpPr>
        <p:spPr>
          <a:xfrm>
            <a:off x="6537960" y="44439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040880" y="4425696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地区聚焦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040880" y="468172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个核心制片地区（中/美/日/韩/英/法/德/俄等）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537960" y="5285232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5" name="Text 43"/>
          <p:cNvSpPr/>
          <p:nvPr/>
        </p:nvSpPr>
        <p:spPr>
          <a:xfrm>
            <a:off x="6537960" y="5285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040880" y="526694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自动入库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7040880" y="552297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DataInitializer 检测空表自动从 CSV 写入 MySQL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40233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DATABASE DESIGN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1463040" cy="41148"/>
          </a:xfrm>
          <a:prstGeom prst="rect">
            <a:avLst/>
          </a:prstGeom>
          <a:solidFill>
            <a:srgbClr val="FF4E00"/>
          </a:solidFill>
          <a:ln/>
        </p:spPr>
      </p:sp>
      <p:sp>
        <p:nvSpPr>
          <p:cNvPr id="6" name="Shape 4"/>
          <p:cNvSpPr/>
          <p:nvPr/>
        </p:nvSpPr>
        <p:spPr>
          <a:xfrm>
            <a:off x="2057400" y="896112"/>
            <a:ext cx="9631375" cy="4114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Text 5"/>
          <p:cNvSpPr/>
          <p:nvPr/>
        </p:nvSpPr>
        <p:spPr>
          <a:xfrm>
            <a:off x="10957255" y="64739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28016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280160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FF4E0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80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影片主表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2648" y="1737360"/>
            <a:ext cx="12856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D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 (PK)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53158" y="1737360"/>
            <a:ext cx="18416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豆瓣 subject id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029968"/>
            <a:ext cx="3383280" cy="29260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2029968"/>
            <a:ext cx="12856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D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title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953158" y="2029968"/>
            <a:ext cx="18416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影片标题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2648" y="2322576"/>
            <a:ext cx="12856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D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953158" y="2322576"/>
            <a:ext cx="18416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上映年份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2615184"/>
            <a:ext cx="3383280" cy="29260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" y="2615184"/>
            <a:ext cx="12856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D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953158" y="2615184"/>
            <a:ext cx="18416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豆瓣评分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" y="2907792"/>
            <a:ext cx="12856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D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votes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953158" y="2907792"/>
            <a:ext cx="18416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评价人数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200400"/>
            <a:ext cx="3383280" cy="29260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" y="3200400"/>
            <a:ext cx="12856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D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country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953158" y="3200400"/>
            <a:ext cx="18416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制片地区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" y="3493008"/>
            <a:ext cx="12856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D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director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953158" y="3493008"/>
            <a:ext cx="18416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导演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3785616"/>
            <a:ext cx="3383280" cy="29260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" y="3785616"/>
            <a:ext cx="12856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D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953158" y="3785616"/>
            <a:ext cx="18416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2648" y="4078224"/>
            <a:ext cx="12856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D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953158" y="4078224"/>
            <a:ext cx="18416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剧情简介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4370832"/>
            <a:ext cx="3383280" cy="29260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5" name="Text 33"/>
          <p:cNvSpPr/>
          <p:nvPr/>
        </p:nvSpPr>
        <p:spPr>
          <a:xfrm>
            <a:off x="612648" y="4370832"/>
            <a:ext cx="12856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D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poster_url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953158" y="4370832"/>
            <a:ext cx="18416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海报 URL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89120" y="1280160"/>
            <a:ext cx="33832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89120" y="1280160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/>
        </p:spPr>
      </p:sp>
      <p:sp>
        <p:nvSpPr>
          <p:cNvPr id="39" name="Text 37"/>
          <p:cNvSpPr/>
          <p:nvPr/>
        </p:nvSpPr>
        <p:spPr>
          <a:xfrm>
            <a:off x="4526280" y="1280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genres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26280" y="1280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类型字典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498848" y="1737360"/>
            <a:ext cx="12856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D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 (PK)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839358" y="1737360"/>
            <a:ext cx="18416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自增主键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389120" y="2029968"/>
            <a:ext cx="3383280" cy="29260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4" name="Text 42"/>
          <p:cNvSpPr/>
          <p:nvPr/>
        </p:nvSpPr>
        <p:spPr>
          <a:xfrm>
            <a:off x="4498848" y="2029968"/>
            <a:ext cx="12856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D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839358" y="2029968"/>
            <a:ext cx="18416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类型名称（唯一）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498848" y="2322576"/>
            <a:ext cx="12856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D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movie_count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839358" y="2322576"/>
            <a:ext cx="18416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影片数量（冗余）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863840" y="1280160"/>
            <a:ext cx="3822192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863840" y="1280160"/>
            <a:ext cx="3822192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50" name="Text 48"/>
          <p:cNvSpPr/>
          <p:nvPr/>
        </p:nvSpPr>
        <p:spPr>
          <a:xfrm>
            <a:off x="8001000" y="1280160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movie_genres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001000" y="1280160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影片-类型关联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973568" y="1737360"/>
            <a:ext cx="145243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D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movie_id (FK)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9480865" y="1737360"/>
            <a:ext cx="211372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movies.id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863840" y="2029968"/>
            <a:ext cx="3822192" cy="29260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5" name="Text 53"/>
          <p:cNvSpPr/>
          <p:nvPr/>
        </p:nvSpPr>
        <p:spPr>
          <a:xfrm>
            <a:off x="7973568" y="2029968"/>
            <a:ext cx="145243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D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genre_id (FK)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9480865" y="2029968"/>
            <a:ext cx="211372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genres.id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973568" y="2322576"/>
            <a:ext cx="145243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D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KEY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9480865" y="2322576"/>
            <a:ext cx="211372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(movie_id, genre_id)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02920" y="4572000"/>
            <a:ext cx="1118311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77240" y="470916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关系与设计要点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777240" y="5102352"/>
            <a:ext cx="457200" cy="36576"/>
          </a:xfrm>
          <a:prstGeom prst="rect">
            <a:avLst/>
          </a:prstGeom>
          <a:solidFill>
            <a:srgbClr val="FF4E00"/>
          </a:solidFill>
          <a:ln/>
        </p:spPr>
      </p:sp>
      <p:sp>
        <p:nvSpPr>
          <p:cNvPr id="62" name="Text 60"/>
          <p:cNvSpPr/>
          <p:nvPr/>
        </p:nvSpPr>
        <p:spPr>
          <a:xfrm>
            <a:off x="777240" y="525780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3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movies ↔ genres 多对多：一部电影可关联多个类型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777240" y="557784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3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多类型筛选采用 AND 语义：影片类型集须包含所有选中类型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777240" y="589788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3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JPA 用 LEFT JOIN FETCH 一次带回类型，避免 N+1 查询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6446520" y="525780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3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Entity 与 DTO 分离：数据库字段改动不影响接口契约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6446520" y="557784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3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筛选器选项用 DISTINCT 查询，类型列表来自 genres 字典表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6446520" y="589788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3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海报 URL 存于 movies 表，由后端代理拉取规避防盗链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后端接口设计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40233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BACKEND API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1463040" cy="41148"/>
          </a:xfrm>
          <a:prstGeom prst="rect">
            <a:avLst/>
          </a:prstGeom>
          <a:solidFill>
            <a:srgbClr val="FF4E00"/>
          </a:solidFill>
          <a:ln/>
        </p:spPr>
      </p:sp>
      <p:sp>
        <p:nvSpPr>
          <p:cNvPr id="6" name="Shape 4"/>
          <p:cNvSpPr/>
          <p:nvPr/>
        </p:nvSpPr>
        <p:spPr>
          <a:xfrm>
            <a:off x="2057400" y="896112"/>
            <a:ext cx="9631375" cy="4114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Text 5"/>
          <p:cNvSpPr/>
          <p:nvPr/>
        </p:nvSpPr>
        <p:spPr>
          <a:xfrm>
            <a:off x="10957255" y="64739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143000"/>
            <a:ext cx="34747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28016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统一响应格式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1627632"/>
            <a:ext cx="457200" cy="36576"/>
          </a:xfrm>
          <a:prstGeom prst="rect">
            <a:avLst/>
          </a:prstGeom>
          <a:solidFill>
            <a:srgbClr val="FF4E0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78308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D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Result&lt;T&gt;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21031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"code": 0,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"message": "ok",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"data": ...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51960" y="114300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28016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分层架构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80560" y="1627632"/>
            <a:ext cx="4572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4"/>
          <p:cNvSpPr/>
          <p:nvPr/>
        </p:nvSpPr>
        <p:spPr>
          <a:xfrm>
            <a:off x="4480560" y="1783080"/>
            <a:ext cx="3200400" cy="384048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178308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4E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715000" y="17830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接收请求 · 参数校验 · 调用 Service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80560" y="2258568"/>
            <a:ext cx="3200400" cy="384048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225856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715000" y="225856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业务逻辑 · 数据聚合 · 事务管理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80560" y="2734056"/>
            <a:ext cx="3200400" cy="384048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/>
        </p:spPr>
      </p:sp>
      <p:sp>
        <p:nvSpPr>
          <p:cNvPr id="23" name="Text 21"/>
          <p:cNvSpPr/>
          <p:nvPr/>
        </p:nvSpPr>
        <p:spPr>
          <a:xfrm>
            <a:off x="4617720" y="273405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715000" y="273405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JPA 查询 · 动态筛选 · 分页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92440" y="1143000"/>
            <a:ext cx="3593592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1280160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接口文档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321040" y="1627632"/>
            <a:ext cx="457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8321040" y="17830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D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SpringDoc OpenAPI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321040" y="21031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Swagger UI 自动生成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21040" y="239572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访问: /swagger-ui.html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21040" y="26974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支持在线调试所有接口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" y="3520440"/>
            <a:ext cx="11183112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365760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核心接口一览（完整文档见 Swagger UI）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77240" y="4023360"/>
            <a:ext cx="10634472" cy="29260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402336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600200" y="40233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92040" y="402336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68680" y="4343400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868680" y="43434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600200" y="43159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/api/types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92040" y="4315968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核心类型列表（A1）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77240" y="4572000"/>
            <a:ext cx="10634472" cy="256032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43" name="Shape 41"/>
          <p:cNvSpPr/>
          <p:nvPr/>
        </p:nvSpPr>
        <p:spPr>
          <a:xfrm>
            <a:off x="868680" y="4599432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868680" y="459943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600200" y="45720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/api/works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892040" y="4572000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影片分页 + 多条件筛选（A2）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68680" y="4855464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/>
        </p:spPr>
      </p:sp>
      <p:sp>
        <p:nvSpPr>
          <p:cNvPr id="48" name="Text 46"/>
          <p:cNvSpPr/>
          <p:nvPr/>
        </p:nvSpPr>
        <p:spPr>
          <a:xfrm>
            <a:off x="868680" y="4855464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600200" y="48280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/api/works/{id}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892040" y="4828032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影片详情（A3）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77240" y="5084064"/>
            <a:ext cx="10634472" cy="256032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52" name="Shape 50"/>
          <p:cNvSpPr/>
          <p:nvPr/>
        </p:nvSpPr>
        <p:spPr>
          <a:xfrm>
            <a:off x="868680" y="5111496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" y="511149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600200" y="508406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/api/works/stats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892040" y="5084064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评分分布/年度趋势/类型对比（A4）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868680" y="5367528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/>
        </p:spPr>
      </p:sp>
      <p:sp>
        <p:nvSpPr>
          <p:cNvPr id="57" name="Text 55"/>
          <p:cNvSpPr/>
          <p:nvPr/>
        </p:nvSpPr>
        <p:spPr>
          <a:xfrm>
            <a:off x="868680" y="536752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600200" y="53400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/api/works/top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4892040" y="5340096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热门 TOP N，支持 country/year/type（A5）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777240" y="5596128"/>
            <a:ext cx="10634472" cy="256032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61" name="Shape 59"/>
          <p:cNvSpPr/>
          <p:nvPr/>
        </p:nvSpPr>
        <p:spPr>
          <a:xfrm>
            <a:off x="868680" y="5623560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3B82F6"/>
          </a:solidFill>
          <a:ln/>
        </p:spPr>
      </p:sp>
      <p:sp>
        <p:nvSpPr>
          <p:cNvPr id="62" name="Text 60"/>
          <p:cNvSpPr/>
          <p:nvPr/>
        </p:nvSpPr>
        <p:spPr>
          <a:xfrm>
            <a:off x="868680" y="562356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600200" y="55961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/api/works/{id}/poster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4892040" y="5596128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海报图片代理（防盗链）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868680" y="5879592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3B82F6"/>
          </a:solidFill>
          <a:ln/>
        </p:spPr>
      </p:sp>
      <p:sp>
        <p:nvSpPr>
          <p:cNvPr id="66" name="Text 64"/>
          <p:cNvSpPr/>
          <p:nvPr/>
        </p:nvSpPr>
        <p:spPr>
          <a:xfrm>
            <a:off x="868680" y="587959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600200" y="58521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/api/stats/overview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4892040" y="5852160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看板聚合接口（KPI + 全部图表）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777240" y="6108192"/>
            <a:ext cx="10634472" cy="256032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70" name="Shape 68"/>
          <p:cNvSpPr/>
          <p:nvPr/>
        </p:nvSpPr>
        <p:spPr>
          <a:xfrm>
            <a:off x="868680" y="6135624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3B82F6"/>
          </a:solidFill>
          <a:ln/>
        </p:spPr>
      </p:sp>
      <p:sp>
        <p:nvSpPr>
          <p:cNvPr id="71" name="Text 69"/>
          <p:cNvSpPr/>
          <p:nvPr/>
        </p:nvSpPr>
        <p:spPr>
          <a:xfrm>
            <a:off x="868680" y="6135624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600200" y="61081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/api/stats/heatmap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4892040" y="6108192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地区×类型热力矩阵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前端总览 · 6 大页面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40233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FRONTEND OVERVIEW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1463040" cy="41148"/>
          </a:xfrm>
          <a:prstGeom prst="rect">
            <a:avLst/>
          </a:prstGeom>
          <a:solidFill>
            <a:srgbClr val="FF4E00"/>
          </a:solidFill>
          <a:ln/>
        </p:spPr>
      </p:sp>
      <p:sp>
        <p:nvSpPr>
          <p:cNvPr id="6" name="Shape 4"/>
          <p:cNvSpPr/>
          <p:nvPr/>
        </p:nvSpPr>
        <p:spPr>
          <a:xfrm>
            <a:off x="2057400" y="896112"/>
            <a:ext cx="9631375" cy="4114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Text 5"/>
          <p:cNvSpPr/>
          <p:nvPr/>
        </p:nvSpPr>
        <p:spPr>
          <a:xfrm>
            <a:off x="10957255" y="64739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11183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采用「左侧多级菜单 + 右侧内容按页切换」布局，参考 B 站网页版设计，不做长页滚动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4292" y="16002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7172" y="1783080"/>
            <a:ext cx="457200" cy="457200"/>
          </a:xfrm>
          <a:prstGeom prst="ellipse">
            <a:avLst/>
          </a:prstGeom>
          <a:solidFill>
            <a:srgbClr val="FF4E00"/>
          </a:solidFill>
          <a:ln/>
        </p:spPr>
      </p:sp>
      <p:sp>
        <p:nvSpPr>
          <p:cNvPr id="11" name="Text 9"/>
          <p:cNvSpPr/>
          <p:nvPr/>
        </p:nvSpPr>
        <p:spPr>
          <a:xfrm>
            <a:off x="687172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1532" y="1801368"/>
            <a:ext cx="4526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 · 数据总览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1532" y="2167128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全局筛选 + KPI + 评分分布 + 年度趋势 + 热榜速览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4292" y="1600200"/>
            <a:ext cx="54864" cy="1417320"/>
          </a:xfrm>
          <a:prstGeom prst="rect">
            <a:avLst/>
          </a:prstGeom>
          <a:solidFill>
            <a:srgbClr val="FF4E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246724" y="16002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29604" y="178308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429604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23964" y="1801368"/>
            <a:ext cx="4526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综合热榜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23964" y="2167128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TOP10 柱状图 + 豆瓣式影片卡片，按评分/评价人数排序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46724" y="1600200"/>
            <a:ext cx="54864" cy="1417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Shape 19"/>
          <p:cNvSpPr/>
          <p:nvPr/>
        </p:nvSpPr>
        <p:spPr>
          <a:xfrm>
            <a:off x="504292" y="324612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7172" y="342900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87172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1532" y="3447288"/>
            <a:ext cx="4526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分地区 / 分年代 / 分类型热榜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81532" y="3813048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地区 Tab / 年代区间 / 类型筛选，共用 A5 接口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4292" y="3246120"/>
            <a:ext cx="54864" cy="1417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Shape 25"/>
          <p:cNvSpPr/>
          <p:nvPr/>
        </p:nvSpPr>
        <p:spPr>
          <a:xfrm>
            <a:off x="6246724" y="324612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29604" y="342900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6429604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23964" y="3447288"/>
            <a:ext cx="4526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类型对比（F8）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23964" y="3813048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双轴柱状图 + 三维雷达图双视图，点击反选筛选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46724" y="3246120"/>
            <a:ext cx="54864" cy="1417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3" name="Shape 31"/>
          <p:cNvSpPr/>
          <p:nvPr/>
        </p:nvSpPr>
        <p:spPr>
          <a:xfrm>
            <a:off x="504292" y="48920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7172" y="507492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5" name="Text 33"/>
          <p:cNvSpPr/>
          <p:nvPr/>
        </p:nvSpPr>
        <p:spPr>
          <a:xfrm>
            <a:off x="687172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81532" y="5093208"/>
            <a:ext cx="4526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深度分析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81532" y="5458968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评分×热度散点 + 地区×类型热力矩阵 + 档期气泡 + 导演 TOP 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4292" y="4892040"/>
            <a:ext cx="54864" cy="1417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9" name="Shape 37"/>
          <p:cNvSpPr/>
          <p:nvPr/>
        </p:nvSpPr>
        <p:spPr>
          <a:xfrm>
            <a:off x="6246724" y="48920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29604" y="507492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1" name="Text 39"/>
          <p:cNvSpPr/>
          <p:nvPr/>
        </p:nvSpPr>
        <p:spPr>
          <a:xfrm>
            <a:off x="6429604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023964" y="5093208"/>
            <a:ext cx="4526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影片库（F9）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023964" y="5458968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表格/卡片双视图，多条件筛选 + 分页 + 详情弹窗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46724" y="4892040"/>
            <a:ext cx="54864" cy="1417320"/>
          </a:xfrm>
          <a:prstGeom prst="rect">
            <a:avLst/>
          </a:prstGeom>
          <a:solidFill>
            <a:srgbClr val="EF4444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前端展示 · 首页（数据总览）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40233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FRONTEND - HOME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1463040" cy="41148"/>
          </a:xfrm>
          <a:prstGeom prst="rect">
            <a:avLst/>
          </a:prstGeom>
          <a:solidFill>
            <a:srgbClr val="FF4E00"/>
          </a:solidFill>
          <a:ln/>
        </p:spPr>
      </p:sp>
      <p:sp>
        <p:nvSpPr>
          <p:cNvPr id="6" name="Shape 4"/>
          <p:cNvSpPr/>
          <p:nvPr/>
        </p:nvSpPr>
        <p:spPr>
          <a:xfrm>
            <a:off x="2057400" y="896112"/>
            <a:ext cx="9631375" cy="4114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Text 5"/>
          <p:cNvSpPr/>
          <p:nvPr/>
        </p:nvSpPr>
        <p:spPr>
          <a:xfrm>
            <a:off x="10957255" y="64739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143000"/>
            <a:ext cx="7772400" cy="5120640"/>
          </a:xfrm>
          <a:prstGeom prst="roundRect">
            <a:avLst>
              <a:gd name="adj" fmla="val 1071"/>
            </a:avLst>
          </a:prstGeom>
          <a:solidFill>
            <a:srgbClr val="FAFBFC"/>
          </a:solidFill>
          <a:ln w="19050">
            <a:solidFill>
              <a:srgbClr val="B0B8C4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02920" y="2474366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C0C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🖼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4112971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【截图占位】首页全景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442155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左侧筛选面板 + 4 KPI + 评分分布 + 年度趋势 + 热榜速览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549640" y="1143000"/>
            <a:ext cx="3136392" cy="5120640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0" y="12801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首页功能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778240" y="1627632"/>
            <a:ext cx="457200" cy="36576"/>
          </a:xfrm>
          <a:prstGeom prst="rect">
            <a:avLst/>
          </a:prstGeom>
          <a:solidFill>
            <a:srgbClr val="FF4E00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0" y="1828800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全局筛选面板：类型 / 年份 / 评分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778240" y="2487168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个 KPI：总数 / 均分 / 年代 / 地区数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778240" y="3145536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F5 评分分布直方图（点击反选）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778240" y="3803904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F6 年度趋势双轴图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778240" y="4462272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F7 综合热榜 TOP5 速览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778240" y="5120640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所有模块随筛选实时刷新</a:t>
            </a:r>
            <a:endParaRPr lang="en-US" sz="115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1C2BD423-6700-BE81-ACDE-2AB35D425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446" y="937259"/>
            <a:ext cx="8063753" cy="540975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前端展示 · 综合热榜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40233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FRONTEND - RANKING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1463040" cy="41148"/>
          </a:xfrm>
          <a:prstGeom prst="rect">
            <a:avLst/>
          </a:prstGeom>
          <a:solidFill>
            <a:srgbClr val="FF4E00"/>
          </a:solidFill>
          <a:ln/>
        </p:spPr>
      </p:sp>
      <p:sp>
        <p:nvSpPr>
          <p:cNvPr id="6" name="Shape 4"/>
          <p:cNvSpPr/>
          <p:nvPr/>
        </p:nvSpPr>
        <p:spPr>
          <a:xfrm>
            <a:off x="2057400" y="896112"/>
            <a:ext cx="9631375" cy="4114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Text 5"/>
          <p:cNvSpPr/>
          <p:nvPr/>
        </p:nvSpPr>
        <p:spPr>
          <a:xfrm>
            <a:off x="10957255" y="64739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143000"/>
            <a:ext cx="7772400" cy="5120640"/>
          </a:xfrm>
          <a:prstGeom prst="roundRect">
            <a:avLst>
              <a:gd name="adj" fmla="val 1071"/>
            </a:avLst>
          </a:prstGeom>
          <a:solidFill>
            <a:srgbClr val="FAFBFC"/>
          </a:solidFill>
          <a:ln w="19050">
            <a:solidFill>
              <a:srgbClr val="B0B8C4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02920" y="2474366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C0C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🖼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4112971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【截图占位】综合热榜页面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442155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TOP10 横向柱状图 + 豆瓣式影片卡片列表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549640" y="1143000"/>
            <a:ext cx="3136392" cy="5120640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0" y="12801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热榜功能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778240" y="1627632"/>
            <a:ext cx="4572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0" y="182880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F7 热门 TOP10 横向柱状图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778240" y="260604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豆瓣式影片卡片：封面 + 评分 + 导演 + 主演 + 梗概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778240" y="338328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按评分 / 按评价人数切换排序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778240" y="416052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点击卡片查看影片详情弹窗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778240" y="493776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口碑最好 vs 最出圈 两种视角</a:t>
            </a:r>
            <a:endParaRPr lang="en-US" sz="1150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5B1A001A-639C-D090-C9CB-CC4D1AB1C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7260"/>
            <a:ext cx="8019288" cy="55366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前端展示 · 分维度热榜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40233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FRONTEND - DIMENSION RANKING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1463040" cy="41148"/>
          </a:xfrm>
          <a:prstGeom prst="rect">
            <a:avLst/>
          </a:prstGeom>
          <a:solidFill>
            <a:srgbClr val="FF4E00"/>
          </a:solidFill>
          <a:ln/>
        </p:spPr>
      </p:sp>
      <p:sp>
        <p:nvSpPr>
          <p:cNvPr id="6" name="Shape 4"/>
          <p:cNvSpPr/>
          <p:nvPr/>
        </p:nvSpPr>
        <p:spPr>
          <a:xfrm>
            <a:off x="2057400" y="896112"/>
            <a:ext cx="9631375" cy="4114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Text 5"/>
          <p:cNvSpPr/>
          <p:nvPr/>
        </p:nvSpPr>
        <p:spPr>
          <a:xfrm>
            <a:off x="10957255" y="64739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143000"/>
            <a:ext cx="7772400" cy="5120640"/>
          </a:xfrm>
          <a:prstGeom prst="roundRect">
            <a:avLst>
              <a:gd name="adj" fmla="val 1071"/>
            </a:avLst>
          </a:prstGeom>
          <a:solidFill>
            <a:srgbClr val="FAFBFC"/>
          </a:solidFill>
          <a:ln w="19050">
            <a:solidFill>
              <a:srgbClr val="B0B8C4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02920" y="2474366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C0C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🖼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4112971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【截图占位】分地区 / 分年代 / 分类型热榜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442155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地区 Tab 切换 + 年代区间 + 类型筛选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549640" y="1143000"/>
            <a:ext cx="3136392" cy="5120640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0" y="12801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分维度热榜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778240" y="1627632"/>
            <a:ext cx="457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0" y="182880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1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分地区：中国大陆 / 香港 / 台湾 / 美国 / 日本 / 韩国 / 英国 / 法国 / 德国 等 Tab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778240" y="260604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1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分年代：按上映年份区间筛选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778240" y="338328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1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分类型：按影片类型筛选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778240" y="416052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1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个榜单共用 A5 接口（参数不同）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778240" y="493776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1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接口复用设计，切换即时刷新</a:t>
            </a:r>
            <a:endParaRPr lang="en-US" sz="1100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8B1969CF-4024-398F-A38F-A752F2FF6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" y="977807"/>
            <a:ext cx="7909560" cy="538713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前端展示 · 类型对比与深度分析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40233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FRONTEND - INSIGHTS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1463040" cy="41148"/>
          </a:xfrm>
          <a:prstGeom prst="rect">
            <a:avLst/>
          </a:prstGeom>
          <a:solidFill>
            <a:srgbClr val="FF4E00"/>
          </a:solidFill>
          <a:ln/>
        </p:spPr>
      </p:sp>
      <p:sp>
        <p:nvSpPr>
          <p:cNvPr id="6" name="Shape 4"/>
          <p:cNvSpPr/>
          <p:nvPr/>
        </p:nvSpPr>
        <p:spPr>
          <a:xfrm>
            <a:off x="2057400" y="896112"/>
            <a:ext cx="9631375" cy="4114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Text 5"/>
          <p:cNvSpPr/>
          <p:nvPr/>
        </p:nvSpPr>
        <p:spPr>
          <a:xfrm>
            <a:off x="10957255" y="64739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143000"/>
            <a:ext cx="548640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31520" y="126187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类型对比（F8）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1591056"/>
            <a:ext cx="4572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691640"/>
            <a:ext cx="5029200" cy="1188720"/>
          </a:xfrm>
          <a:prstGeom prst="roundRect">
            <a:avLst>
              <a:gd name="adj" fmla="val 4615"/>
            </a:avLst>
          </a:prstGeom>
          <a:solidFill>
            <a:srgbClr val="FAFBFC"/>
          </a:solidFill>
          <a:ln w="19050">
            <a:solidFill>
              <a:srgbClr val="B0B8C4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31520" y="2000707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C0C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🖼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68680" y="2381098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【截图占位】类型对比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271028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柱状图 / 雷达图双视图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297180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0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平均评分 + 平均热度双轴柱状图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3227832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0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三维雷达图（评分/数量/热度）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" y="3483864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0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点击柱体/雷达反选类型筛选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1143000"/>
            <a:ext cx="5468112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26187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深度分析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92240" y="1591056"/>
            <a:ext cx="4572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2240" y="1691640"/>
            <a:ext cx="5010912" cy="1188720"/>
          </a:xfrm>
          <a:prstGeom prst="roundRect">
            <a:avLst>
              <a:gd name="adj" fmla="val 4615"/>
            </a:avLst>
          </a:prstGeom>
          <a:solidFill>
            <a:srgbClr val="FAFBFC"/>
          </a:solidFill>
          <a:ln w="19050">
            <a:solidFill>
              <a:srgbClr val="B0B8C4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492240" y="2000707"/>
            <a:ext cx="5010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C0C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🖼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629400" y="2381098"/>
            <a:ext cx="4736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【截图占位】深度分析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29400" y="2710282"/>
            <a:ext cx="4736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散点图 + 热力矩阵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0" y="2971800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0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评分×热度散点图（对数轴，地区着色）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92240" y="3227832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0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地区×类型热力矩阵（10×12）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92240" y="348386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0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档期×类型气泡 + 导演 TOP 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3931920"/>
            <a:ext cx="11183112" cy="2331720"/>
          </a:xfrm>
          <a:prstGeom prst="roundRect">
            <a:avLst>
              <a:gd name="adj" fmla="val 2353"/>
            </a:avLst>
          </a:prstGeom>
          <a:solidFill>
            <a:srgbClr val="FAFBFC"/>
          </a:solidFill>
          <a:ln w="19050">
            <a:solidFill>
              <a:srgbClr val="B0B8C4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502920" y="4538167"/>
            <a:ext cx="11183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C0C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🖼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640080" y="5284318"/>
            <a:ext cx="10908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【截图占位】深度分析完整页面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" y="5613502"/>
            <a:ext cx="10908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散点图 + 热力矩阵 + 档期气泡图 + 导演榜单</a:t>
            </a:r>
            <a:endParaRPr lang="en-US" sz="1000" dirty="0"/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F3ABB6F9-F4B2-9DD5-9ECE-911AA2AD5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049" y="3854913"/>
            <a:ext cx="5748634" cy="2564892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825A2BCA-6994-0912-D755-57AD891CE1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6683" y="3867912"/>
            <a:ext cx="5676453" cy="2568099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D1F3F05E-1164-3A8D-CAE8-BBD0C38DCC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8729" y="1640631"/>
            <a:ext cx="5130142" cy="1270818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09FAE22C-9842-6A6D-04B3-B33132F4A6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1640631"/>
            <a:ext cx="5209337" cy="133976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前端展示 · 影片库（F9）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40233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FRONTEND - MOVIE LIBRARY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1463040" cy="41148"/>
          </a:xfrm>
          <a:prstGeom prst="rect">
            <a:avLst/>
          </a:prstGeom>
          <a:solidFill>
            <a:srgbClr val="FF4E00"/>
          </a:solidFill>
          <a:ln/>
        </p:spPr>
      </p:sp>
      <p:sp>
        <p:nvSpPr>
          <p:cNvPr id="6" name="Shape 4"/>
          <p:cNvSpPr/>
          <p:nvPr/>
        </p:nvSpPr>
        <p:spPr>
          <a:xfrm>
            <a:off x="2057400" y="896112"/>
            <a:ext cx="9631375" cy="4114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Text 5"/>
          <p:cNvSpPr/>
          <p:nvPr/>
        </p:nvSpPr>
        <p:spPr>
          <a:xfrm>
            <a:off x="10957255" y="64739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143000"/>
            <a:ext cx="7772400" cy="5120640"/>
          </a:xfrm>
          <a:prstGeom prst="roundRect">
            <a:avLst>
              <a:gd name="adj" fmla="val 1071"/>
            </a:avLst>
          </a:prstGeom>
          <a:solidFill>
            <a:srgbClr val="FAFBFC"/>
          </a:solidFill>
          <a:ln w="19050">
            <a:solidFill>
              <a:srgbClr val="B0B8C4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02920" y="2474366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C0C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🖼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4112971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【截图占位】影片库页面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442155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表格/卡片双视图 + 多条件筛选 + 分页 + 详情弹窗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549640" y="1143000"/>
            <a:ext cx="3136392" cy="5120640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0" y="12801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影片库功能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778240" y="1627632"/>
            <a:ext cx="4572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0" y="1828800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 / 卡片双视图切换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778240" y="2487168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多条件筛选：类型 / 年份 / 评分 / 关键词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778240" y="3145536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每页 10 条分页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778240" y="3803904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表格列含封面缩略图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778240" y="4462272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点击打开详情弹窗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778240" y="5120640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详情：海报 + 完整信息 + 梗概</a:t>
            </a:r>
            <a:endParaRPr lang="en-US" sz="115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9D710789-5C06-DE40-CB6B-153C024A8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376" y="937261"/>
            <a:ext cx="7926952" cy="540078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前端功能亮点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40233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FRONTEND HIGHLIGHTS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1463040" cy="41148"/>
          </a:xfrm>
          <a:prstGeom prst="rect">
            <a:avLst/>
          </a:prstGeom>
          <a:solidFill>
            <a:srgbClr val="FF4E00"/>
          </a:solidFill>
          <a:ln/>
        </p:spPr>
      </p:sp>
      <p:sp>
        <p:nvSpPr>
          <p:cNvPr id="6" name="Shape 4"/>
          <p:cNvSpPr/>
          <p:nvPr/>
        </p:nvSpPr>
        <p:spPr>
          <a:xfrm>
            <a:off x="2057400" y="896112"/>
            <a:ext cx="9631375" cy="4114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Text 5"/>
          <p:cNvSpPr/>
          <p:nvPr/>
        </p:nvSpPr>
        <p:spPr>
          <a:xfrm>
            <a:off x="10957255" y="64739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6296" y="1188720"/>
            <a:ext cx="358444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6296" y="1188720"/>
            <a:ext cx="3584448" cy="54864"/>
          </a:xfrm>
          <a:prstGeom prst="roundRect">
            <a:avLst>
              <a:gd name="adj" fmla="val 50000"/>
            </a:avLst>
          </a:prstGeom>
          <a:solidFill>
            <a:srgbClr val="FF4E00"/>
          </a:solidFill>
          <a:ln/>
        </p:spPr>
      </p:sp>
      <p:sp>
        <p:nvSpPr>
          <p:cNvPr id="10" name="Text 8"/>
          <p:cNvSpPr/>
          <p:nvPr/>
        </p:nvSpPr>
        <p:spPr>
          <a:xfrm>
            <a:off x="719176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🔄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59256" y="137160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全局筛选联动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4896" y="1874520"/>
            <a:ext cx="31272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类型/年份/评分单一数据源，任一变化全链路刷新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03624" y="1188720"/>
            <a:ext cx="358444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3624" y="1188720"/>
            <a:ext cx="3584448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4486504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👆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126584" y="137160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图表点击反选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32224" y="1874520"/>
            <a:ext cx="31272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点评分分布柱体、类型对比柱/雷达，反向写入筛选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70952" y="1188720"/>
            <a:ext cx="358444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70952" y="1188720"/>
            <a:ext cx="3584448" cy="5486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8253832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893912" y="137160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请求层优化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99552" y="1874520"/>
            <a:ext cx="31272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防抖 300ms / AbortController 超时 / 取消陈旧请求 / localStorage 缓存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6296" y="2926080"/>
            <a:ext cx="358444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6296" y="2926080"/>
            <a:ext cx="3584448" cy="54864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719176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🌗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359256" y="310896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明暗主题切换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4896" y="3611880"/>
            <a:ext cx="31272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CSS 变量驱动，全站图表与卡片同步换色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03624" y="2926080"/>
            <a:ext cx="358444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03624" y="2926080"/>
            <a:ext cx="3584448" cy="54864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30" name="Text 28"/>
          <p:cNvSpPr/>
          <p:nvPr/>
        </p:nvSpPr>
        <p:spPr>
          <a:xfrm>
            <a:off x="4486504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🖼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126584" y="310896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海报代理与缓存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32224" y="3611880"/>
            <a:ext cx="31272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后端携带 Referer 拉取豆瓣 CDN 图片，MD5 缓存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70952" y="2926080"/>
            <a:ext cx="358444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70952" y="2926080"/>
            <a:ext cx="3584448" cy="5486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8253832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8893912" y="310896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全局搜索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299552" y="3611880"/>
            <a:ext cx="31272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顶栏搜索回车跳转影片库并按标题筛选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" y="4526280"/>
            <a:ext cx="1118311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466344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 本地化与工程化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777240" y="5047488"/>
            <a:ext cx="457200" cy="36576"/>
          </a:xfrm>
          <a:prstGeom prst="rect">
            <a:avLst/>
          </a:prstGeom>
          <a:solidFill>
            <a:srgbClr val="FF4E00"/>
          </a:solidFill>
          <a:ln/>
        </p:spPr>
      </p:sp>
      <p:sp>
        <p:nvSpPr>
          <p:cNvPr id="41" name="Text 39"/>
          <p:cNvSpPr/>
          <p:nvPr/>
        </p:nvSpPr>
        <p:spPr>
          <a:xfrm>
            <a:off x="777240" y="521208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3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 5.5 本地化到 vendor/echarts.min.js，断网可用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77240" y="553212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3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缺失时自动回退 4 个 CDN 镜像，全部失败显示友好提示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77240" y="585216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3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图表注册中心统一调度：初始化 / 主题切换 / resize / 懒加载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446520" y="521208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3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张图表模块化：每个图表独立 render/resize/dispose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446520" y="553212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3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Tab 内图表「切到才画」，首屏仅渲染 2 张，提升加载速度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446520" y="585216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3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前端回归测试：jsdom 交互测试 + 图表渲染冒烟测试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部署方案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40233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1463040" cy="41148"/>
          </a:xfrm>
          <a:prstGeom prst="rect">
            <a:avLst/>
          </a:prstGeom>
          <a:solidFill>
            <a:srgbClr val="FF4E00"/>
          </a:solidFill>
          <a:ln/>
        </p:spPr>
      </p:sp>
      <p:sp>
        <p:nvSpPr>
          <p:cNvPr id="6" name="Shape 4"/>
          <p:cNvSpPr/>
          <p:nvPr/>
        </p:nvSpPr>
        <p:spPr>
          <a:xfrm>
            <a:off x="2057400" y="896112"/>
            <a:ext cx="9631375" cy="4114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Text 5"/>
          <p:cNvSpPr/>
          <p:nvPr/>
        </p:nvSpPr>
        <p:spPr>
          <a:xfrm>
            <a:off x="10957255" y="64739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188720"/>
            <a:ext cx="356616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14173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 MySQL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201168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建库 movie_dashboard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 root 密码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无需手动建表，后端自动导入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087368" y="2011680"/>
            <a:ext cx="192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297680" y="1188720"/>
            <a:ext cx="356616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137160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48056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20640" y="14173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启动后端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26280" y="201168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 backend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mvnw.cmd spring-boot:run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 8081，首次自动导入 2050 条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882128" y="2011680"/>
            <a:ext cx="192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092440" y="1188720"/>
            <a:ext cx="356616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5320" y="137160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827532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915400" y="14173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 Nginx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21040" y="201168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 root → frontend/dist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listen 8083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/api/ 代理到 127.0.0.1:8081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3977640"/>
            <a:ext cx="11183112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11480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访问与验证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77240" y="4498848"/>
            <a:ext cx="457200" cy="36576"/>
          </a:xfrm>
          <a:prstGeom prst="rect">
            <a:avLst/>
          </a:prstGeom>
          <a:solidFill>
            <a:srgbClr val="FF4E00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" y="466344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http://localhost:8083/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172200" y="466344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看板首页（Nginx 托管前端）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60120" y="512064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http://localhost:8081/swagger-ui.html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172200" y="512064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Swagger UI 接口文档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60120" y="557784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http://localhost:8081/api/works?page=0&amp;size=2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172200" y="557784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后端直连验证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77240" y="58521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启动顺序：MySQL → 后端(8081) → Nginx(8083)；改前端代码后 Ctrl+Shift+R 强刷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团队协作与 GitHub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40233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 COLLABORATION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1463040" cy="41148"/>
          </a:xfrm>
          <a:prstGeom prst="rect">
            <a:avLst/>
          </a:prstGeom>
          <a:solidFill>
            <a:srgbClr val="FF4E00"/>
          </a:solidFill>
          <a:ln/>
        </p:spPr>
      </p:sp>
      <p:sp>
        <p:nvSpPr>
          <p:cNvPr id="6" name="Shape 4"/>
          <p:cNvSpPr/>
          <p:nvPr/>
        </p:nvSpPr>
        <p:spPr>
          <a:xfrm>
            <a:off x="2057400" y="896112"/>
            <a:ext cx="9631375" cy="4114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Text 5"/>
          <p:cNvSpPr/>
          <p:nvPr/>
        </p:nvSpPr>
        <p:spPr>
          <a:xfrm>
            <a:off x="10957255" y="64739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14300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28016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仓库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1627632"/>
            <a:ext cx="457200" cy="36576"/>
          </a:xfrm>
          <a:prstGeom prst="rect">
            <a:avLst/>
          </a:prstGeom>
          <a:solidFill>
            <a:srgbClr val="FF4E0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78308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iridescent2333/douban-movies-data-analysis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2194560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2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主分支保护 + Pull Request 评审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514600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2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Conventional Commits 提交规范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834640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2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Issues 跟踪任务与 Bug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1143000"/>
            <a:ext cx="5468112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28016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分支模型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92240" y="1627632"/>
            <a:ext cx="4572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Shape 16"/>
          <p:cNvSpPr/>
          <p:nvPr/>
        </p:nvSpPr>
        <p:spPr>
          <a:xfrm>
            <a:off x="6492240" y="17830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FF4E00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17830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680960" y="17830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生产交付分支，受保护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92240" y="2167128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216712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80960" y="21671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集成分支，日常开发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92240" y="2551176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255117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feature/*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80960" y="25511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功能分支，一人一分支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2935224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293522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fix/*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680960" y="293522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修复分支，关联 Issue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3611880"/>
            <a:ext cx="11183112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374904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协作流程（7 步）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77240" y="4133088"/>
            <a:ext cx="457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Shape 31"/>
          <p:cNvSpPr/>
          <p:nvPr/>
        </p:nvSpPr>
        <p:spPr>
          <a:xfrm>
            <a:off x="777240" y="434340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43434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分配任务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176272" y="4370832"/>
            <a:ext cx="164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286000" y="434340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6000" y="43434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切 feature 分支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685032" y="4370832"/>
            <a:ext cx="164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794760" y="434340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94760" y="43434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本地开发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193792" y="4370832"/>
            <a:ext cx="164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303520" y="434340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0" y="43434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Commit (Conventional)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702552" y="4370832"/>
            <a:ext cx="164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812280" y="434340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12280" y="43434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Push + PR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211312" y="4370832"/>
            <a:ext cx="164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8321040" y="434340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21040" y="43434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代码评审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9720072" y="4370832"/>
            <a:ext cx="164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9829800" y="434340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829800" y="43434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合并 develop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77240" y="507492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代码评审重点：分层是否合理、SQL 是否有注入风险、命名是否规范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777240" y="539496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合并前通过本地测试与 Swagger 接口验证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6446520" y="507492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冲突处理：定期 rebase develop，减少合并冲突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6446520" y="539496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提交历史清晰，每个 commit 对应一个完整改动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777240" y="58521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提交次数：≥ 10 次（满足课程要求）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使用说明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40233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USAGE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1463040" cy="41148"/>
          </a:xfrm>
          <a:prstGeom prst="rect">
            <a:avLst/>
          </a:prstGeom>
          <a:solidFill>
            <a:srgbClr val="FF4E00"/>
          </a:solidFill>
          <a:ln/>
        </p:spPr>
      </p:sp>
      <p:sp>
        <p:nvSpPr>
          <p:cNvPr id="6" name="Shape 4"/>
          <p:cNvSpPr/>
          <p:nvPr/>
        </p:nvSpPr>
        <p:spPr>
          <a:xfrm>
            <a:off x="2057400" y="896112"/>
            <a:ext cx="9631375" cy="4114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Text 5"/>
          <p:cNvSpPr/>
          <p:nvPr/>
        </p:nvSpPr>
        <p:spPr>
          <a:xfrm>
            <a:off x="10957255" y="64739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143000"/>
            <a:ext cx="539496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28016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使用策略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1627632"/>
            <a:ext cx="4572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828800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后端骨架：pom 依赖、Entity/DTO 模板、Controller 注解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2194560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 业务逻辑（JPQL / 筛选 / 聚合）：自己编写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2560320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ECharts 配置：AI 辅助调参，布局样式自己写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2926080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数据清洗脚本：自己编写（需精确控制分布）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1520" y="3291840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每个关键逻辑都自己读懂和修改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4937760" cy="2240280"/>
          </a:xfrm>
          <a:prstGeom prst="roundRect">
            <a:avLst>
              <a:gd name="adj" fmla="val 3265"/>
            </a:avLst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977640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438912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帮助减少重复劳动和查文档时间，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470916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但关键业务逻辑必须自己掌握。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52120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详细记录见 docs/AI使用记录表.md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60120" y="55321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不把无法理解的代码直接入库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63640" y="1143000"/>
            <a:ext cx="5468112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492240" y="128016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对话记录（截图占位）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92240" y="1627632"/>
            <a:ext cx="4572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Shape 23"/>
          <p:cNvSpPr/>
          <p:nvPr/>
        </p:nvSpPr>
        <p:spPr>
          <a:xfrm>
            <a:off x="6492240" y="1783080"/>
            <a:ext cx="5010912" cy="4251960"/>
          </a:xfrm>
          <a:prstGeom prst="roundRect">
            <a:avLst>
              <a:gd name="adj" fmla="val 1290"/>
            </a:avLst>
          </a:prstGeom>
          <a:solidFill>
            <a:srgbClr val="FAFBFC"/>
          </a:solidFill>
          <a:ln w="19050">
            <a:solidFill>
              <a:srgbClr val="B0B8C4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492240" y="2888590"/>
            <a:ext cx="5010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C0C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🖼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629400" y="4249217"/>
            <a:ext cx="4736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【截图占位】AI 对话记录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29400" y="4578401"/>
            <a:ext cx="4736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展示与 AI 协作的对话片段</a:t>
            </a:r>
            <a:endParaRPr lang="en-US" sz="1000" dirty="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E6FA6216-A560-3AEA-23CF-25C508B49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9" y="1719919"/>
            <a:ext cx="5164667" cy="2184569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3909ED39-821B-8FD3-A25A-24DEEC17ED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5362" y="3904488"/>
            <a:ext cx="5164667" cy="21762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课程要求符合度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40233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REQUIREMENTS CHECK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1463040" cy="41148"/>
          </a:xfrm>
          <a:prstGeom prst="rect">
            <a:avLst/>
          </a:prstGeom>
          <a:solidFill>
            <a:srgbClr val="FF4E00"/>
          </a:solidFill>
          <a:ln/>
        </p:spPr>
      </p:sp>
      <p:sp>
        <p:nvSpPr>
          <p:cNvPr id="6" name="Shape 4"/>
          <p:cNvSpPr/>
          <p:nvPr/>
        </p:nvSpPr>
        <p:spPr>
          <a:xfrm>
            <a:off x="2057400" y="896112"/>
            <a:ext cx="9631375" cy="4114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Text 5"/>
          <p:cNvSpPr/>
          <p:nvPr/>
        </p:nvSpPr>
        <p:spPr>
          <a:xfrm>
            <a:off x="10957255" y="64739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143000"/>
            <a:ext cx="557784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28016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前端功能 F1–F9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1627632"/>
            <a:ext cx="457200" cy="36576"/>
          </a:xfrm>
          <a:prstGeom prst="rect">
            <a:avLst/>
          </a:prstGeom>
          <a:solidFill>
            <a:srgbClr val="FF4E00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187452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874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71600" y="1783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看板首页（标题/筛选/图表三区布局）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2240280"/>
            <a:ext cx="5120640" cy="4572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233172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331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71600" y="22402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类型筛选下拉框（12 个核心类型）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278892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2788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71600" y="26974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年份区间筛选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1520" y="3154680"/>
            <a:ext cx="5120640" cy="4572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" y="324612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246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371600" y="31546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评分区间筛选（快捷 + 自定义）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2960" y="370332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703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371600" y="36118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评分分布直方图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31520" y="4069080"/>
            <a:ext cx="5120640" cy="4572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9" name="Shape 27"/>
          <p:cNvSpPr/>
          <p:nvPr/>
        </p:nvSpPr>
        <p:spPr>
          <a:xfrm>
            <a:off x="822960" y="416052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160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371600" y="4069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年度趋势折线图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22960" y="461772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4617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F7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371600" y="45262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热门 TOP10 榜单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31520" y="4983480"/>
            <a:ext cx="5120640" cy="4572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6" name="Shape 34"/>
          <p:cNvSpPr/>
          <p:nvPr/>
        </p:nvSpPr>
        <p:spPr>
          <a:xfrm>
            <a:off x="822960" y="507492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5074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F8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371600" y="49834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类型对比（雷达图 / 柱状图）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22960" y="553212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5532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F9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371600" y="54406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作品详情表格（每页 10 条）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355080" y="1143000"/>
            <a:ext cx="5376672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128016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后端接口 A1–A5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6583680" y="1627632"/>
            <a:ext cx="4572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5" name="Shape 43"/>
          <p:cNvSpPr/>
          <p:nvPr/>
        </p:nvSpPr>
        <p:spPr>
          <a:xfrm>
            <a:off x="6675120" y="187452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1874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223760" y="1783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 /api/types — 类型列表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583680" y="2240280"/>
            <a:ext cx="4937760" cy="4572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49" name="Shape 47"/>
          <p:cNvSpPr/>
          <p:nvPr/>
        </p:nvSpPr>
        <p:spPr>
          <a:xfrm>
            <a:off x="6675120" y="233172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50" name="Text 48"/>
          <p:cNvSpPr/>
          <p:nvPr/>
        </p:nvSpPr>
        <p:spPr>
          <a:xfrm>
            <a:off x="6675120" y="2331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A2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223760" y="22402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 /api/works — 分页多条件查询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675120" y="278892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53" name="Text 51"/>
          <p:cNvSpPr/>
          <p:nvPr/>
        </p:nvSpPr>
        <p:spPr>
          <a:xfrm>
            <a:off x="6675120" y="2788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223760" y="26974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 /api/works/{id} — 详情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6583680" y="3154680"/>
            <a:ext cx="4937760" cy="4572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56" name="Shape 54"/>
          <p:cNvSpPr/>
          <p:nvPr/>
        </p:nvSpPr>
        <p:spPr>
          <a:xfrm>
            <a:off x="6675120" y="324612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57" name="Text 55"/>
          <p:cNvSpPr/>
          <p:nvPr/>
        </p:nvSpPr>
        <p:spPr>
          <a:xfrm>
            <a:off x="6675120" y="3246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A4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223760" y="31546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 /api/works/stats — 三类统计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6675120" y="370332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60" name="Text 58"/>
          <p:cNvSpPr/>
          <p:nvPr/>
        </p:nvSpPr>
        <p:spPr>
          <a:xfrm>
            <a:off x="6675120" y="3703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223760" y="36118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 /api/works/top — TOP10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6355080" y="4251960"/>
            <a:ext cx="5376672" cy="2011680"/>
          </a:xfrm>
          <a:prstGeom prst="roundRect">
            <a:avLst>
              <a:gd name="adj" fmla="val 3636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83680" y="4389120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验收标准达标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6583680" y="4800600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数据量：2050 条，满足 ≥ 500 条要求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6583680" y="5120640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数据入库 MySQL，由后端查询返回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6583680" y="5440680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后端分层：Controller / Service / Repository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6583680" y="5760720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15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提交 ≥ 10 次，符合课程规范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项目亮点总结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235440" y="40233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HIGHLIGHTS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1463040" cy="41148"/>
          </a:xfrm>
          <a:prstGeom prst="rect">
            <a:avLst/>
          </a:prstGeom>
          <a:solidFill>
            <a:srgbClr val="FF4E00"/>
          </a:solidFill>
          <a:ln/>
        </p:spPr>
      </p:sp>
      <p:sp>
        <p:nvSpPr>
          <p:cNvPr id="6" name="Shape 4"/>
          <p:cNvSpPr/>
          <p:nvPr/>
        </p:nvSpPr>
        <p:spPr>
          <a:xfrm>
            <a:off x="2057400" y="896112"/>
            <a:ext cx="9631375" cy="4114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Text 5"/>
          <p:cNvSpPr/>
          <p:nvPr/>
        </p:nvSpPr>
        <p:spPr>
          <a:xfrm>
            <a:off x="10957255" y="64739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6296" y="1188720"/>
            <a:ext cx="358444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6296" y="1188720"/>
            <a:ext cx="3584448" cy="54864"/>
          </a:xfrm>
          <a:prstGeom prst="roundRect">
            <a:avLst>
              <a:gd name="adj" fmla="val 50000"/>
            </a:avLst>
          </a:prstGeom>
          <a:solidFill>
            <a:srgbClr val="FF4E00"/>
          </a:solidFill>
          <a:ln/>
        </p:spPr>
      </p:sp>
      <p:sp>
        <p:nvSpPr>
          <p:cNvPr id="10" name="Text 8"/>
          <p:cNvSpPr/>
          <p:nvPr/>
        </p:nvSpPr>
        <p:spPr>
          <a:xfrm>
            <a:off x="719176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59256" y="137160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真实数据全栈贯通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4896" y="1874520"/>
            <a:ext cx="3127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2050 条真实豆瓣数据入库 MySQL，后端分层查询，前端 fetch 消费，严格满足课程核心考核点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03624" y="1188720"/>
            <a:ext cx="358444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3624" y="1188720"/>
            <a:ext cx="3584448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4486504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🔄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126584" y="137160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筛选全链路联动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32224" y="1874520"/>
            <a:ext cx="3127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全局筛选状态单一数据源，类型/年份/评分任一变化即重新请求，首页图表、KPI、热榜、影片库同步刷新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70952" y="1188720"/>
            <a:ext cx="358444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70952" y="1188720"/>
            <a:ext cx="3584448" cy="5486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8253832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👆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893912" y="137160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图表点击反选筛选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99552" y="1874520"/>
            <a:ext cx="3127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评分分布点柱、类型对比点柱/雷达可反向写入筛选条件，实现「看图即筛选」的探索式交互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6296" y="2926080"/>
            <a:ext cx="358444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6296" y="2926080"/>
            <a:ext cx="3584448" cy="54864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719176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359256" y="310896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张 ECharts 图表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4896" y="3611880"/>
            <a:ext cx="3127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评分分布、年度趋势、热门 TOP10、类型对比（双视图）、散点、热力矩阵、档期气泡、导演 TOP 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03624" y="2926080"/>
            <a:ext cx="358444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03624" y="2926080"/>
            <a:ext cx="3584448" cy="54864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30" name="Text 28"/>
          <p:cNvSpPr/>
          <p:nvPr/>
        </p:nvSpPr>
        <p:spPr>
          <a:xfrm>
            <a:off x="4486504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126584" y="310896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工程质量保障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32224" y="3611880"/>
            <a:ext cx="3127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Conventional Commits、统一返回与全局异常、Swagger 自动文档、前端 jsdom 回归测试 + 冒烟测试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70952" y="2926080"/>
            <a:ext cx="358444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70952" y="2926080"/>
            <a:ext cx="3584448" cy="5486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8253832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✨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8893912" y="310896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体验细节打磨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299552" y="3611880"/>
            <a:ext cx="3127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明暗主题、防抖请求、海报代理与缓存、表格/卡片双视图、空态/错误态友好提示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" y="4526280"/>
            <a:ext cx="11183112" cy="1737360"/>
          </a:xfrm>
          <a:prstGeom prst="roundRect">
            <a:avLst>
              <a:gd name="adj" fmla="val 4211"/>
            </a:avLst>
          </a:prstGeom>
          <a:solidFill>
            <a:srgbClr val="FFF1EA"/>
          </a:solidFill>
          <a:ln w="12700">
            <a:solidFill>
              <a:srgbClr val="FF4E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466344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项目价值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77240" y="50749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从数据到洞察的完整闭环：真实数据入库 → 后端分层查询 → 前端多维可视化 → 交互探索发现。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77240" y="56235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不仅满足课程 F1-F9 / A1-A5 全部要求，更在数据真实性、交互体验、工程质量上做了扎实打磨。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4E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011680"/>
            <a:ext cx="111831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A1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3108960"/>
            <a:ext cx="11183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kern="0" spc="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 FOR LISTENING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384048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4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欢迎提问 · Q&amp;A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346704" y="475488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3346704" y="489204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项目仓库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46704" y="5230368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github.com/iridescent2333/douban-movies-data-analysis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46704" y="5669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小组 · </a:t>
            </a:r>
            <a:r>
              <a:rPr lang="zh-CN" alt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张同学</a:t>
            </a: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r>
              <a:rPr lang="zh-CN" alt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钟同学</a:t>
            </a: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r>
              <a:rPr lang="zh-CN" alt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曹同学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2169</Words>
  <Application>Microsoft Office PowerPoint</Application>
  <PresentationFormat>宽屏</PresentationFormat>
  <Paragraphs>564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7" baseType="lpstr">
      <vt:lpstr>Microsoft YaHei</vt:lpstr>
      <vt:lpstr>Arial</vt:lpstr>
      <vt:lpstr>Consolas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WEB开发技术课程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04小组</dc:creator>
  <cp:lastModifiedBy>222 111</cp:lastModifiedBy>
  <cp:revision>7</cp:revision>
  <dcterms:created xsi:type="dcterms:W3CDTF">2026-10-26T01:01:12Z</dcterms:created>
  <dcterms:modified xsi:type="dcterms:W3CDTF">2026-10-27T03:52:31Z</dcterms:modified>
</cp:coreProperties>
</file>